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8"/>
  </p:notesMasterIdLst>
  <p:handoutMasterIdLst>
    <p:handoutMasterId r:id="rId19"/>
  </p:handoutMasterIdLst>
  <p:sldIdLst>
    <p:sldId id="315" r:id="rId5"/>
    <p:sldId id="266" r:id="rId6"/>
    <p:sldId id="314" r:id="rId7"/>
    <p:sldId id="271" r:id="rId8"/>
    <p:sldId id="309" r:id="rId9"/>
    <p:sldId id="305" r:id="rId10"/>
    <p:sldId id="313" r:id="rId11"/>
    <p:sldId id="312" r:id="rId12"/>
    <p:sldId id="317" r:id="rId13"/>
    <p:sldId id="316" r:id="rId14"/>
    <p:sldId id="318" r:id="rId15"/>
    <p:sldId id="300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262EE-AE20-4C84-B80D-4D57B0715D18}" v="1" dt="2025-03-28T21:18:08.406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937B8-4405-495C-B125-A2F7F317C4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A5EBF3-40B2-41D8-B904-69074FB3E9E7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Reconstruction Method in </a:t>
          </a:r>
          <a:r>
            <a:rPr lang="en-US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NeoCortexApi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791D5C-C9F0-4200-A6A1-433276ED57D2}" type="parTrans" cxnId="{13E33548-9C6C-4CAA-89B5-EC056C13643B}">
      <dgm:prSet/>
      <dgm:spPr/>
      <dgm:t>
        <a:bodyPr/>
        <a:lstStyle/>
        <a:p>
          <a:endParaRPr lang="en-US"/>
        </a:p>
      </dgm:t>
    </dgm:pt>
    <dgm:pt modelId="{8C1CEB36-5DA5-4D9B-A660-89FCFCF8CAD3}" type="sibTrans" cxnId="{13E33548-9C6C-4CAA-89B5-EC056C13643B}">
      <dgm:prSet/>
      <dgm:spPr/>
      <dgm:t>
        <a:bodyPr/>
        <a:lstStyle/>
        <a:p>
          <a:endParaRPr lang="en-US"/>
        </a:p>
      </dgm:t>
    </dgm:pt>
    <dgm:pt modelId="{98B23E52-6160-44DA-A977-2424FA8406CC}" type="pres">
      <dgm:prSet presAssocID="{8E0937B8-4405-495C-B125-A2F7F317C4C0}" presName="linear" presStyleCnt="0">
        <dgm:presLayoutVars>
          <dgm:animLvl val="lvl"/>
          <dgm:resizeHandles val="exact"/>
        </dgm:presLayoutVars>
      </dgm:prSet>
      <dgm:spPr/>
    </dgm:pt>
    <dgm:pt modelId="{C9311046-26BC-4DFE-914E-BAC635A12C8F}" type="pres">
      <dgm:prSet presAssocID="{B2A5EBF3-40B2-41D8-B904-69074FB3E9E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3E33548-9C6C-4CAA-89B5-EC056C13643B}" srcId="{8E0937B8-4405-495C-B125-A2F7F317C4C0}" destId="{B2A5EBF3-40B2-41D8-B904-69074FB3E9E7}" srcOrd="0" destOrd="0" parTransId="{85791D5C-C9F0-4200-A6A1-433276ED57D2}" sibTransId="{8C1CEB36-5DA5-4D9B-A660-89FCFCF8CAD3}"/>
    <dgm:cxn modelId="{C90C4971-C700-48B4-A768-C4DF10658025}" type="presOf" srcId="{8E0937B8-4405-495C-B125-A2F7F317C4C0}" destId="{98B23E52-6160-44DA-A977-2424FA8406CC}" srcOrd="0" destOrd="0" presId="urn:microsoft.com/office/officeart/2005/8/layout/vList2"/>
    <dgm:cxn modelId="{E2B6C4BE-662E-47D0-89E4-D74E42291D86}" type="presOf" srcId="{B2A5EBF3-40B2-41D8-B904-69074FB3E9E7}" destId="{C9311046-26BC-4DFE-914E-BAC635A12C8F}" srcOrd="0" destOrd="0" presId="urn:microsoft.com/office/officeart/2005/8/layout/vList2"/>
    <dgm:cxn modelId="{1D362C63-83F7-4E7F-A321-87BCE593B6A3}" type="presParOf" srcId="{98B23E52-6160-44DA-A977-2424FA8406CC}" destId="{C9311046-26BC-4DFE-914E-BAC635A12C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11046-26BC-4DFE-914E-BAC635A12C8F}">
      <dsp:nvSpPr>
        <dsp:cNvPr id="0" name=""/>
        <dsp:cNvSpPr/>
      </dsp:nvSpPr>
      <dsp:spPr>
        <a:xfrm>
          <a:off x="0" y="21404"/>
          <a:ext cx="3196204" cy="1526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Reconstruction Method in </a:t>
          </a:r>
          <a:r>
            <a:rPr lang="en-US" sz="2900" b="1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NeoCortexApi</a:t>
          </a:r>
          <a:endParaRPr lang="en-US" sz="29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535" y="95939"/>
        <a:ext cx="3047134" cy="1377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3/28/2025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AAC2-47DC-63A5-CA19-4A5E91AC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533AB-2F99-2D53-443C-56C72C1C8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B7DED-D392-81FF-2DD1-9F79C1AD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307EE-3C1B-D2E9-269B-574974B5F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41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18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B3CA-C7DA-C433-A06C-B7A08D82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C981D-9314-3EBA-6117-E9CC83CE4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2821F-1F93-D342-E5A3-EA818D4FD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F4FB-93C4-47EE-287B-24270E9F8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736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66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3/28/2025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3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06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31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736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243403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3" r:id="rId16"/>
    <p:sldLayoutId id="2147483704" r:id="rId17"/>
    <p:sldLayoutId id="2147483706" r:id="rId18"/>
    <p:sldLayoutId id="2147483707" r:id="rId19"/>
    <p:sldLayoutId id="2147483708" r:id="rId20"/>
    <p:sldLayoutId id="2147483709" r:id="rId21"/>
    <p:sldLayoutId id="2147483682" r:id="rId22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0202" y="832919"/>
            <a:ext cx="9980199" cy="5194498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en-US" sz="3200" dirty="0"/>
              <a:t>ML 24/25 Implement the visualization of permanence value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E531E-7D76-EE5A-6FDF-A060479D9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691" y="0"/>
            <a:ext cx="1797830" cy="74868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AC9699E-BD50-FC55-0921-F79366E4F6A7}"/>
              </a:ext>
            </a:extLst>
          </p:cNvPr>
          <p:cNvGrpSpPr/>
          <p:nvPr/>
        </p:nvGrpSpPr>
        <p:grpSpPr>
          <a:xfrm>
            <a:off x="8223827" y="4321654"/>
            <a:ext cx="2806574" cy="1572152"/>
            <a:chOff x="7704499" y="3859927"/>
            <a:chExt cx="2806574" cy="157215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C2E8FD9-10D8-4BA2-5F92-E7018DA6AD4B}"/>
                </a:ext>
              </a:extLst>
            </p:cNvPr>
            <p:cNvSpPr/>
            <p:nvPr/>
          </p:nvSpPr>
          <p:spPr>
            <a:xfrm>
              <a:off x="7704499" y="4336610"/>
              <a:ext cx="2806574" cy="109546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dirty="0"/>
                <a:t>Submitted by</a:t>
              </a:r>
              <a:br>
                <a:rPr lang="en-US" dirty="0"/>
              </a:br>
              <a:r>
                <a:rPr lang="en-US" sz="1200" dirty="0"/>
                <a:t>Md </a:t>
              </a:r>
              <a:r>
                <a:rPr lang="en-US" sz="1200" dirty="0" err="1"/>
                <a:t>Tiabur</a:t>
              </a:r>
              <a:r>
                <a:rPr lang="en-US" sz="1200" dirty="0"/>
                <a:t> Rahman Tamim</a:t>
              </a:r>
              <a:br>
                <a:rPr lang="en-US" sz="1200" dirty="0"/>
              </a:br>
              <a:r>
                <a:rPr lang="en-US" sz="1200" dirty="0"/>
                <a:t>Md </a:t>
              </a:r>
              <a:r>
                <a:rPr lang="en-US" sz="1200" dirty="0" err="1"/>
                <a:t>Shakaut</a:t>
              </a:r>
              <a:r>
                <a:rPr lang="en-US" sz="1200" dirty="0"/>
                <a:t> </a:t>
              </a:r>
              <a:r>
                <a:rPr lang="en-US" sz="1200" dirty="0" err="1"/>
                <a:t>kader</a:t>
              </a:r>
              <a:br>
                <a:rPr lang="en-US" sz="1200" dirty="0"/>
              </a:br>
              <a:r>
                <a:rPr lang="en-US" sz="1200" dirty="0"/>
                <a:t>Zaria </a:t>
              </a:r>
              <a:r>
                <a:rPr lang="en-US" sz="1200" dirty="0" err="1"/>
                <a:t>Fahamida</a:t>
              </a:r>
              <a:br>
                <a:rPr lang="en-US" sz="1200" dirty="0"/>
              </a:br>
              <a:r>
                <a:rPr lang="en-US" sz="1200" dirty="0"/>
                <a:t>Jakia Sultana Jui 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3E9A37-23D6-4C5D-E235-848334DAA889}"/>
                </a:ext>
              </a:extLst>
            </p:cNvPr>
            <p:cNvSpPr/>
            <p:nvPr/>
          </p:nvSpPr>
          <p:spPr>
            <a:xfrm>
              <a:off x="7704499" y="3859927"/>
              <a:ext cx="2806573" cy="47668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Team: permanence pixels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DAA49B2-D16F-BD00-20A2-664D74A17EE1}"/>
              </a:ext>
            </a:extLst>
          </p:cNvPr>
          <p:cNvSpPr/>
          <p:nvPr/>
        </p:nvSpPr>
        <p:spPr>
          <a:xfrm>
            <a:off x="1064766" y="4931875"/>
            <a:ext cx="2903408" cy="961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Information Technology Course</a:t>
            </a:r>
          </a:p>
          <a:p>
            <a:r>
              <a:rPr lang="en-US" sz="1200" dirty="0"/>
              <a:t>Module Software Engineering</a:t>
            </a:r>
          </a:p>
          <a:p>
            <a:r>
              <a:rPr lang="en-US" sz="1200" dirty="0"/>
              <a:t>by Damir Dobric / Andreas Pech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study is to investigate the reconstruction of Input in Hierarchical Temporal Memory (HTM) networks using the Neocortex API's Reconstruct method. Specifically, the study aims to: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Method 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NeoCortexApi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Reconstruction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Permanence Values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Calculation between Original Encoded inputs and Reconstructed Input.(Both numerical inputs and Image Inputs)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/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8994D9-815C-DC12-077D-8229ABA91EE9}"/>
              </a:ext>
            </a:extLst>
          </p:cNvPr>
          <p:cNvSpPr/>
          <p:nvPr/>
        </p:nvSpPr>
        <p:spPr>
          <a:xfrm>
            <a:off x="1386630" y="3961182"/>
            <a:ext cx="4709370" cy="248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 (Hierarchical Temporal Memory)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Pooler (SP)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Reconstruct()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Encoding in HTM</a:t>
            </a:r>
          </a:p>
        </p:txBody>
      </p:sp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137" y="1193077"/>
            <a:ext cx="3762711" cy="72489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2025" y="2263289"/>
            <a:ext cx="5125300" cy="3642561"/>
          </a:xfrm>
        </p:spPr>
        <p:txBody>
          <a:bodyPr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(Image data and Numeric data):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into binary format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Pooling: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patterns and generates SDRs.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Decodes SDRs to recreate the original input.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reconstructed output for analysis.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A88C4B-83B6-2FB6-C351-A9D5532EB04D}"/>
              </a:ext>
            </a:extLst>
          </p:cNvPr>
          <p:cNvSpPr txBox="1"/>
          <p:nvPr/>
        </p:nvSpPr>
        <p:spPr>
          <a:xfrm>
            <a:off x="949661" y="5687575"/>
            <a:ext cx="36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Fig-1: Graphical Representation of the Experiment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2123CB-D6FE-9B0B-9B41-BE25F49C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4" y="1362975"/>
            <a:ext cx="4144340" cy="41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EF6EF6-250D-5BE8-BCBF-C0BFA941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124" y="782684"/>
            <a:ext cx="5382228" cy="4560266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AE42FEF-BD44-8086-729D-9EAE589A1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2001553"/>
              </p:ext>
            </p:extLst>
          </p:nvPr>
        </p:nvGraphicFramePr>
        <p:xfrm>
          <a:off x="67112" y="2776756"/>
          <a:ext cx="3196205" cy="1569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9737A316-8AF8-3D69-DEAC-F1AE065D3560}"/>
              </a:ext>
            </a:extLst>
          </p:cNvPr>
          <p:cNvSpPr/>
          <p:nvPr/>
        </p:nvSpPr>
        <p:spPr>
          <a:xfrm>
            <a:off x="3372374" y="2994870"/>
            <a:ext cx="1249960" cy="9731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78126-4838-12AC-1BF7-38D9EC2473B5}"/>
              </a:ext>
            </a:extLst>
          </p:cNvPr>
          <p:cNvSpPr txBox="1"/>
          <p:nvPr/>
        </p:nvSpPr>
        <p:spPr>
          <a:xfrm>
            <a:off x="5911443" y="5511567"/>
            <a:ext cx="4871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Fig-2: Graphical illustration of the workflow of the Reconstruction Method 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Input Reconstruction with Reconstruction Method </a:t>
            </a: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25CAEF-C182-577B-75E4-CBF307208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145" y="2335263"/>
            <a:ext cx="3582012" cy="3805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3F30BA-8D31-963E-0FB5-1C78550A16DF}"/>
              </a:ext>
            </a:extLst>
          </p:cNvPr>
          <p:cNvSpPr txBox="1"/>
          <p:nvPr/>
        </p:nvSpPr>
        <p:spPr>
          <a:xfrm>
            <a:off x="4262729" y="6303135"/>
            <a:ext cx="4871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Fig-3: Graphical illustration of the workflow of the Reconstruction Method </a:t>
            </a:r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Technique of the Permanence Values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927" y="2596716"/>
            <a:ext cx="9077495" cy="247322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Visualization: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permanence values as a color-coded heatmap.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Permanence Normalization: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permanence values using a defined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Input Comparison: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original encoded input with reconstructed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Measurement: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display how closely the reconstruction matches the original input.</a:t>
            </a:r>
          </a:p>
        </p:txBody>
      </p:sp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289" y="4817442"/>
            <a:ext cx="10013709" cy="103327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Result for Numerical Inputs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CCDC7E-7E56-7716-E1E9-492E7ABC2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741" y="159509"/>
            <a:ext cx="4927866" cy="3788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56C96C-9A05-F683-F9DB-22C6DD95B1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3304" y="159509"/>
            <a:ext cx="5535818" cy="4034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ABCF38-BF97-1E4F-A615-1E46229EA787}"/>
              </a:ext>
            </a:extLst>
          </p:cNvPr>
          <p:cNvSpPr txBox="1"/>
          <p:nvPr/>
        </p:nvSpPr>
        <p:spPr>
          <a:xfrm>
            <a:off x="1442906" y="4059425"/>
            <a:ext cx="4454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Fig-4: Reconstructed Heatmap Image for Numerical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FA5F6-490A-7B40-CB4A-812CCD66D465}"/>
              </a:ext>
            </a:extLst>
          </p:cNvPr>
          <p:cNvSpPr txBox="1"/>
          <p:nvPr/>
        </p:nvSpPr>
        <p:spPr>
          <a:xfrm>
            <a:off x="7737445" y="4030781"/>
            <a:ext cx="4454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Fig-5: Comparing Encoded vs. Reconstructed Numerical Inputs(After Thresholding)</a:t>
            </a:r>
          </a:p>
        </p:txBody>
      </p:sp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90FF-CD45-4D50-B5C3-0EBFB0CD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7795-B90F-FF43-9FD8-19CC9567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Result for Image Inputs</a:t>
            </a:r>
            <a:endParaRPr lang="en-US" sz="3200" b="1" dirty="0"/>
          </a:p>
        </p:txBody>
      </p:sp>
      <p:pic>
        <p:nvPicPr>
          <p:cNvPr id="3" name="Picture 2" descr="A smiley face made of red and blue text&#10;&#10;AI-generated content may be incorrect.">
            <a:extLst>
              <a:ext uri="{FF2B5EF4-FFF2-40B4-BE49-F238E27FC236}">
                <a16:creationId xmlns:a16="http://schemas.microsoft.com/office/drawing/2014/main" id="{4FC1A916-AFFA-DBBC-F3D4-235C6BAED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730" y="806254"/>
            <a:ext cx="2993883" cy="2993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E2C54-4DC3-8841-BC9F-455B9D2FA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788" y="806254"/>
            <a:ext cx="2867155" cy="2901680"/>
          </a:xfrm>
          <a:prstGeom prst="rect">
            <a:avLst/>
          </a:prstGeom>
        </p:spPr>
      </p:pic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2D32215-64FF-E978-4AF0-F4BD61C2C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8118" y="806254"/>
            <a:ext cx="2985530" cy="2885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BD5BFA-2EA6-401C-15CB-76B44E790046}"/>
              </a:ext>
            </a:extLst>
          </p:cNvPr>
          <p:cNvSpPr txBox="1"/>
          <p:nvPr/>
        </p:nvSpPr>
        <p:spPr>
          <a:xfrm>
            <a:off x="1964010" y="4013844"/>
            <a:ext cx="2507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Fig-6: Image Heatmap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B2E8D-A813-BD49-F8FB-99341E544765}"/>
              </a:ext>
            </a:extLst>
          </p:cNvPr>
          <p:cNvSpPr txBox="1"/>
          <p:nvPr/>
        </p:nvSpPr>
        <p:spPr>
          <a:xfrm>
            <a:off x="5824343" y="3867250"/>
            <a:ext cx="2507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Fig-7: Binary Image reconstructed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B5757-BFE6-79E1-9464-496D37433BA1}"/>
              </a:ext>
            </a:extLst>
          </p:cNvPr>
          <p:cNvSpPr txBox="1"/>
          <p:nvPr/>
        </p:nvSpPr>
        <p:spPr>
          <a:xfrm>
            <a:off x="9344580" y="3808450"/>
            <a:ext cx="2507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Fig-8: Binary Image as Text Encoded </a:t>
            </a:r>
          </a:p>
        </p:txBody>
      </p:sp>
    </p:spTree>
    <p:extLst>
      <p:ext uri="{BB962C8B-B14F-4D97-AF65-F5344CB8AC3E}">
        <p14:creationId xmlns:p14="http://schemas.microsoft.com/office/powerpoint/2010/main" val="43859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Graph for the Numerical Inputs</a:t>
            </a:r>
          </a:p>
        </p:txBody>
      </p:sp>
      <p:pic>
        <p:nvPicPr>
          <p:cNvPr id="5" name="Picture 4" descr="A graph of orange and white lines&#10;&#10;AI-generated content may be incorrect.">
            <a:extLst>
              <a:ext uri="{FF2B5EF4-FFF2-40B4-BE49-F238E27FC236}">
                <a16:creationId xmlns:a16="http://schemas.microsoft.com/office/drawing/2014/main" id="{A0D07D9F-E65E-7F26-223F-A33575A51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26" y="88336"/>
            <a:ext cx="10805020" cy="438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D2B14-C85B-B3B8-4E0D-A9B4F84C1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DD49D-F7D7-46E3-422C-3CA9A86F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3700" b="0" cap="all"/>
              <a:t>Similarity Graph for the Image Inputs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graph&#10;&#10;AI-generated content may be incorrect.">
            <a:extLst>
              <a:ext uri="{FF2B5EF4-FFF2-40B4-BE49-F238E27FC236}">
                <a16:creationId xmlns:a16="http://schemas.microsoft.com/office/drawing/2014/main" id="{E48D294F-BEA9-97B6-8915-408EB0E7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66" y="484632"/>
            <a:ext cx="3888004" cy="582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5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191B0-0473-09F0-6BBC-684706947089}"/>
              </a:ext>
            </a:extLst>
          </p:cNvPr>
          <p:cNvSpPr/>
          <p:nvPr/>
        </p:nvSpPr>
        <p:spPr>
          <a:xfrm>
            <a:off x="1371600" y="2962275"/>
            <a:ext cx="9172575" cy="2857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Input Reconstruction: Perform reconstruction for two input types: numerical data and image data.</a:t>
            </a:r>
          </a:p>
          <a:p>
            <a:endParaRPr lang="en-US" dirty="0"/>
          </a:p>
          <a:p>
            <a:r>
              <a:rPr lang="en-US" dirty="0"/>
              <a:t>Reconstruction Testing: Conduct unit tests to verify the accuracy of the reconstruction method.</a:t>
            </a:r>
          </a:p>
          <a:p>
            <a:endParaRPr lang="en-US" dirty="0"/>
          </a:p>
          <a:p>
            <a:r>
              <a:rPr lang="en-US" dirty="0"/>
              <a:t>Assumptions in Reconstruction: Consider specific assumptions and conditions applied during input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Team: permanence pixels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/>
              <a:t>Md </a:t>
            </a:r>
            <a:r>
              <a:rPr lang="en-US" sz="1300" dirty="0" err="1"/>
              <a:t>Tiabur</a:t>
            </a:r>
            <a:r>
              <a:rPr lang="en-US" sz="1300" dirty="0"/>
              <a:t> Rahman Tamim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/>
              <a:t>Md </a:t>
            </a:r>
            <a:r>
              <a:rPr lang="en-US" sz="1300" dirty="0" err="1"/>
              <a:t>Shakaut</a:t>
            </a:r>
            <a:r>
              <a:rPr lang="en-US" sz="1300" dirty="0"/>
              <a:t> </a:t>
            </a:r>
            <a:r>
              <a:rPr lang="en-US" sz="1300" dirty="0" err="1"/>
              <a:t>kader</a:t>
            </a:r>
            <a:endParaRPr lang="en-US" sz="1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/>
              <a:t>Zaria </a:t>
            </a:r>
            <a:r>
              <a:rPr lang="en-US" sz="1300" dirty="0" err="1"/>
              <a:t>Fahamida</a:t>
            </a:r>
            <a:endParaRPr lang="en-US" sz="1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/>
              <a:t>Jakia Sultana Jui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9F6E7637E2554D950D1906B27AFC62" ma:contentTypeVersion="5" ma:contentTypeDescription="Create a new document." ma:contentTypeScope="" ma:versionID="e74f2932c8cbc3298474a4de2f60cb16">
  <xsd:schema xmlns:xsd="http://www.w3.org/2001/XMLSchema" xmlns:xs="http://www.w3.org/2001/XMLSchema" xmlns:p="http://schemas.microsoft.com/office/2006/metadata/properties" xmlns:ns3="3d8a2596-ad58-4542-a52b-efbc68410577" targetNamespace="http://schemas.microsoft.com/office/2006/metadata/properties" ma:root="true" ma:fieldsID="988157c9a545be2a8dd5e5190dd1127c" ns3:_="">
    <xsd:import namespace="3d8a2596-ad58-4542-a52b-efbc6841057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596-ad58-4542-a52b-efbc6841057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FF477C-132F-44F8-8C56-EBFF95FAF97B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3d8a2596-ad58-4542-a52b-efbc68410577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DDE6F-0F94-4026-B05F-24EE4A08AD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8a2596-ad58-4542-a52b-efbc684105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{39EC1BC4-BBBE-4392-AFFD-CEFF75E16FA7}tf56000440_win32</Template>
  <TotalTime>448</TotalTime>
  <Words>403</Words>
  <Application>Microsoft Office PowerPoint</Application>
  <PresentationFormat>Widescreen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Meiryo</vt:lpstr>
      <vt:lpstr>Arial</vt:lpstr>
      <vt:lpstr>Calibri</vt:lpstr>
      <vt:lpstr>Corbel</vt:lpstr>
      <vt:lpstr>Courier New</vt:lpstr>
      <vt:lpstr>Times New Roman</vt:lpstr>
      <vt:lpstr>Wingdings</vt:lpstr>
      <vt:lpstr>ShojiVTI</vt:lpstr>
      <vt:lpstr>ML 24/25 Implement the visualization of permanence value    </vt:lpstr>
      <vt:lpstr>Objectives</vt:lpstr>
      <vt:lpstr>Introduction</vt:lpstr>
      <vt:lpstr>Methodology</vt:lpstr>
      <vt:lpstr>PowerPoint Presentation</vt:lpstr>
      <vt:lpstr>Input Reconstruction with Reconstruction Method </vt:lpstr>
      <vt:lpstr>Visualization Technique of the Permanence Values</vt:lpstr>
      <vt:lpstr>Visualization Result for Numerical Inputs</vt:lpstr>
      <vt:lpstr>Visualization Result for Image Inputs</vt:lpstr>
      <vt:lpstr>Similarity Graph for the Numerical Inputs</vt:lpstr>
      <vt:lpstr>Similarity Graph for the Image Inputs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Jui, Jakia Sultana</dc:creator>
  <cp:lastModifiedBy>Kader, Md Shakaut</cp:lastModifiedBy>
  <cp:revision>6</cp:revision>
  <dcterms:created xsi:type="dcterms:W3CDTF">2025-03-27T18:59:54Z</dcterms:created>
  <dcterms:modified xsi:type="dcterms:W3CDTF">2025-03-28T21:18:48Z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0x010100D99F6E7637E2554D950D1906B27AFC62</vt:lpwstr>
  </property>
  <property fmtid="{D5CDD505-2E9C-101B-9397-08002B2CF9AE}" pid="3" name="MediaServiceImageTags">
    <vt:lpwstr/>
  </property>
</Properties>
</file>